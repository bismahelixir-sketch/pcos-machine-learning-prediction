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7"/>
  </p:notesMasterIdLst>
  <p:sldIdLst>
    <p:sldId id="265" r:id="rId2"/>
    <p:sldId id="266" r:id="rId3"/>
    <p:sldId id="267" r:id="rId4"/>
    <p:sldId id="268" r:id="rId5"/>
    <p:sldId id="269" r:id="rId6"/>
    <p:sldId id="270" r:id="rId7"/>
    <p:sldId id="271" r:id="rId8"/>
    <p:sldId id="272" r:id="rId9"/>
    <p:sldId id="273" r:id="rId10"/>
    <p:sldId id="274" r:id="rId11"/>
    <p:sldId id="275" r:id="rId12"/>
    <p:sldId id="277" r:id="rId13"/>
    <p:sldId id="280" r:id="rId14"/>
    <p:sldId id="278" r:id="rId15"/>
    <p:sldId id="28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02"/>
    <p:restoredTop sz="94651"/>
  </p:normalViewPr>
  <p:slideViewPr>
    <p:cSldViewPr snapToGrid="0">
      <p:cViewPr varScale="1">
        <p:scale>
          <a:sx n="105" d="100"/>
          <a:sy n="105" d="100"/>
        </p:scale>
        <p:origin x="67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D3E28B-B61D-4E4F-9F5D-A7C1ACD9FE63}" type="datetimeFigureOut">
              <a:rPr lang="en-US" smtClean="0"/>
              <a:t>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ED8DB6-F416-F14B-91AB-460FE720FDD6}" type="slidenum">
              <a:rPr lang="en-US" smtClean="0"/>
              <a:t>‹#›</a:t>
            </a:fld>
            <a:endParaRPr lang="en-US"/>
          </a:p>
        </p:txBody>
      </p:sp>
    </p:spTree>
    <p:extLst>
      <p:ext uri="{BB962C8B-B14F-4D97-AF65-F5344CB8AC3E}">
        <p14:creationId xmlns:p14="http://schemas.microsoft.com/office/powerpoint/2010/main" val="1338900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ED8DB6-F416-F14B-91AB-460FE720FDD6}" type="slidenum">
              <a:rPr lang="en-US" smtClean="0"/>
              <a:t>9</a:t>
            </a:fld>
            <a:endParaRPr lang="en-US"/>
          </a:p>
        </p:txBody>
      </p:sp>
    </p:spTree>
    <p:extLst>
      <p:ext uri="{BB962C8B-B14F-4D97-AF65-F5344CB8AC3E}">
        <p14:creationId xmlns:p14="http://schemas.microsoft.com/office/powerpoint/2010/main" val="35161462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7/20/26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36261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7/20/26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75417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7/20/26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1831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7/20/26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3710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7/20/26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627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7/20/26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63132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7/20/26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57030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7/20/26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988738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7/20/26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67087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7/20/26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18967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7/20/26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86447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7/20/26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056714853"/>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8B12E9E-0882-B45B-2DE2-471784891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7F7695-A292-EB3F-E57A-4ECAD382E778}"/>
              </a:ext>
            </a:extLst>
          </p:cNvPr>
          <p:cNvSpPr>
            <a:spLocks noGrp="1"/>
          </p:cNvSpPr>
          <p:nvPr>
            <p:ph type="title"/>
          </p:nvPr>
        </p:nvSpPr>
        <p:spPr>
          <a:xfrm>
            <a:off x="625147" y="569627"/>
            <a:ext cx="7382605" cy="4328436"/>
          </a:xfrm>
        </p:spPr>
        <p:txBody>
          <a:bodyPr vert="horz" lIns="91440" tIns="45720" rIns="91440" bIns="45720" rtlCol="0" anchor="b">
            <a:normAutofit/>
          </a:bodyPr>
          <a:lstStyle/>
          <a:p>
            <a:r>
              <a:rPr lang="en-US" sz="6100"/>
              <a:t>VISUALISATIONS</a:t>
            </a:r>
          </a:p>
        </p:txBody>
      </p:sp>
    </p:spTree>
    <p:extLst>
      <p:ext uri="{BB962C8B-B14F-4D97-AF65-F5344CB8AC3E}">
        <p14:creationId xmlns:p14="http://schemas.microsoft.com/office/powerpoint/2010/main" val="2362230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CD59064A-7BD3-673D-2606-9507EFB48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0A0B6DCB-95D4-CB9D-367C-BF8853192E93}"/>
              </a:ext>
            </a:extLst>
          </p:cNvPr>
          <p:cNvSpPr>
            <a:spLocks noGrp="1"/>
          </p:cNvSpPr>
          <p:nvPr>
            <p:ph type="title"/>
          </p:nvPr>
        </p:nvSpPr>
        <p:spPr>
          <a:xfrm>
            <a:off x="341680" y="5358269"/>
            <a:ext cx="7204271" cy="1094733"/>
          </a:xfrm>
        </p:spPr>
        <p:txBody>
          <a:bodyPr vert="horz" lIns="91440" tIns="45720" rIns="91440" bIns="45720" rtlCol="0" anchor="t">
            <a:normAutofit/>
          </a:bodyPr>
          <a:lstStyle/>
          <a:p>
            <a:r>
              <a:rPr lang="en-US" dirty="0"/>
              <a:t>HISTOGRAM 1</a:t>
            </a:r>
            <a:endParaRPr lang="en-US" b="1" kern="1200" dirty="0">
              <a:solidFill>
                <a:schemeClr val="tx1"/>
              </a:solidFill>
              <a:latin typeface="+mj-lt"/>
              <a:ea typeface="+mj-ea"/>
              <a:cs typeface="+mj-cs"/>
            </a:endParaRPr>
          </a:p>
        </p:txBody>
      </p:sp>
      <p:pic>
        <p:nvPicPr>
          <p:cNvPr id="9" name="Content Placeholder 8" descr="A graph of a graph&#10;&#10;Description automatically generated with medium confidence">
            <a:extLst>
              <a:ext uri="{FF2B5EF4-FFF2-40B4-BE49-F238E27FC236}">
                <a16:creationId xmlns:a16="http://schemas.microsoft.com/office/drawing/2014/main" id="{6599020B-432C-BD14-52FE-9D4DBB206347}"/>
              </a:ext>
            </a:extLst>
          </p:cNvPr>
          <p:cNvPicPr>
            <a:picLocks noGrp="1" noChangeAspect="1"/>
          </p:cNvPicPr>
          <p:nvPr>
            <p:ph sz="half" idx="2"/>
          </p:nvPr>
        </p:nvPicPr>
        <p:blipFill>
          <a:blip r:embed="rId2"/>
          <a:srcRect r="5992" b="1"/>
          <a:stretch/>
        </p:blipFill>
        <p:spPr>
          <a:xfrm>
            <a:off x="419099" y="419102"/>
            <a:ext cx="7129183" cy="4663886"/>
          </a:xfrm>
          <a:prstGeom prst="rect">
            <a:avLst/>
          </a:prstGeom>
        </p:spPr>
      </p:pic>
      <p:sp>
        <p:nvSpPr>
          <p:cNvPr id="6" name="Content Placeholder 5">
            <a:extLst>
              <a:ext uri="{FF2B5EF4-FFF2-40B4-BE49-F238E27FC236}">
                <a16:creationId xmlns:a16="http://schemas.microsoft.com/office/drawing/2014/main" id="{665564CD-D2B6-F010-9DA0-F032374ADBAC}"/>
              </a:ext>
            </a:extLst>
          </p:cNvPr>
          <p:cNvSpPr>
            <a:spLocks noGrp="1"/>
          </p:cNvSpPr>
          <p:nvPr>
            <p:ph sz="half" idx="1"/>
          </p:nvPr>
        </p:nvSpPr>
        <p:spPr>
          <a:xfrm>
            <a:off x="8050306" y="419102"/>
            <a:ext cx="3434399" cy="6033900"/>
          </a:xfrm>
        </p:spPr>
        <p:txBody>
          <a:bodyPr vert="horz" lIns="91440" tIns="45720" rIns="91440" bIns="45720" rtlCol="0">
            <a:normAutofit fontScale="92500"/>
          </a:bodyPr>
          <a:lstStyle/>
          <a:p>
            <a:r>
              <a:rPr lang="en-US" sz="1800" dirty="0"/>
              <a:t>The most common BMI range is around 20 – 23 which shows that the large number of people in the dataset come under this range.</a:t>
            </a:r>
          </a:p>
          <a:p>
            <a:r>
              <a:rPr lang="en-US" sz="1800" dirty="0"/>
              <a:t>The values are almost evenly distributed but are slightly skewed towards right.</a:t>
            </a:r>
          </a:p>
          <a:p>
            <a:r>
              <a:rPr lang="en-US" sz="1800" dirty="0"/>
              <a:t>The range is around 17 – 36</a:t>
            </a:r>
          </a:p>
          <a:p>
            <a:r>
              <a:rPr lang="en-US" sz="1800" dirty="0"/>
              <a:t>As seen, after 35 the number of people drops which means that less people are in very high BMI range.</a:t>
            </a:r>
          </a:p>
          <a:p>
            <a:r>
              <a:rPr lang="en-US" sz="1800" dirty="0"/>
              <a:t>Since BMI is varying feature and its also relevant and there is no major data </a:t>
            </a:r>
            <a:r>
              <a:rPr lang="en-US" sz="1800" dirty="0" err="1"/>
              <a:t>imbalanace</a:t>
            </a:r>
            <a:r>
              <a:rPr lang="en-US" sz="1800" dirty="0"/>
              <a:t> so its useful for modelling.</a:t>
            </a:r>
          </a:p>
          <a:p>
            <a:endParaRPr lang="en-US" sz="1800" dirty="0"/>
          </a:p>
        </p:txBody>
      </p:sp>
    </p:spTree>
    <p:extLst>
      <p:ext uri="{BB962C8B-B14F-4D97-AF65-F5344CB8AC3E}">
        <p14:creationId xmlns:p14="http://schemas.microsoft.com/office/powerpoint/2010/main" val="3708276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D59064A-7BD3-673D-2606-9507EFB48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24C4E6-0AFA-24A3-E0EC-2EE097BE5154}"/>
              </a:ext>
            </a:extLst>
          </p:cNvPr>
          <p:cNvSpPr>
            <a:spLocks noGrp="1"/>
          </p:cNvSpPr>
          <p:nvPr>
            <p:ph type="title"/>
          </p:nvPr>
        </p:nvSpPr>
        <p:spPr>
          <a:xfrm>
            <a:off x="341680" y="5358269"/>
            <a:ext cx="7204271" cy="1094733"/>
          </a:xfrm>
        </p:spPr>
        <p:txBody>
          <a:bodyPr vert="horz" lIns="91440" tIns="45720" rIns="91440" bIns="45720" rtlCol="0" anchor="t">
            <a:normAutofit/>
          </a:bodyPr>
          <a:lstStyle/>
          <a:p>
            <a:r>
              <a:rPr lang="en-US" sz="3600" b="1" kern="1200" dirty="0">
                <a:solidFill>
                  <a:schemeClr val="tx1"/>
                </a:solidFill>
                <a:latin typeface="+mj-lt"/>
                <a:ea typeface="+mj-ea"/>
                <a:cs typeface="+mj-cs"/>
              </a:rPr>
              <a:t>HISTOGRAM 2</a:t>
            </a:r>
          </a:p>
        </p:txBody>
      </p:sp>
      <p:pic>
        <p:nvPicPr>
          <p:cNvPr id="6" name="Content Placeholder 5" descr="A graph of a level distribution&#10;&#10;Description automatically generated">
            <a:extLst>
              <a:ext uri="{FF2B5EF4-FFF2-40B4-BE49-F238E27FC236}">
                <a16:creationId xmlns:a16="http://schemas.microsoft.com/office/drawing/2014/main" id="{9C303B50-DF93-DBCD-B8FB-7917CDBAC782}"/>
              </a:ext>
            </a:extLst>
          </p:cNvPr>
          <p:cNvPicPr>
            <a:picLocks noGrp="1" noChangeAspect="1"/>
          </p:cNvPicPr>
          <p:nvPr>
            <p:ph sz="half" idx="1"/>
          </p:nvPr>
        </p:nvPicPr>
        <p:blipFill>
          <a:blip r:embed="rId2"/>
          <a:srcRect r="5992" b="1"/>
          <a:stretch/>
        </p:blipFill>
        <p:spPr>
          <a:xfrm>
            <a:off x="419099" y="419102"/>
            <a:ext cx="7129183" cy="4663886"/>
          </a:xfrm>
          <a:prstGeom prst="rect">
            <a:avLst/>
          </a:prstGeom>
        </p:spPr>
      </p:pic>
      <p:sp>
        <p:nvSpPr>
          <p:cNvPr id="4" name="Content Placeholder 3">
            <a:extLst>
              <a:ext uri="{FF2B5EF4-FFF2-40B4-BE49-F238E27FC236}">
                <a16:creationId xmlns:a16="http://schemas.microsoft.com/office/drawing/2014/main" id="{7C8306D6-8C4B-0088-6737-A9C86F618BED}"/>
              </a:ext>
            </a:extLst>
          </p:cNvPr>
          <p:cNvSpPr>
            <a:spLocks noGrp="1"/>
          </p:cNvSpPr>
          <p:nvPr>
            <p:ph sz="half" idx="2"/>
          </p:nvPr>
        </p:nvSpPr>
        <p:spPr>
          <a:xfrm>
            <a:off x="8050306" y="419102"/>
            <a:ext cx="3434399" cy="6033900"/>
          </a:xfrm>
        </p:spPr>
        <p:txBody>
          <a:bodyPr vert="horz" lIns="91440" tIns="45720" rIns="91440" bIns="45720" rtlCol="0">
            <a:normAutofit/>
          </a:bodyPr>
          <a:lstStyle/>
          <a:p>
            <a:r>
              <a:rPr lang="en-US" sz="1800" dirty="0"/>
              <a:t>The range of testosterone level is around 17 to 100 ng/dL.</a:t>
            </a:r>
          </a:p>
          <a:p>
            <a:r>
              <a:rPr lang="en-US" sz="1800" dirty="0"/>
              <a:t>The distribution is uniform with some small peaks and dips.</a:t>
            </a:r>
          </a:p>
          <a:p>
            <a:r>
              <a:rPr lang="en-US" sz="1800" dirty="0"/>
              <a:t>Usually higher testosterone levels are diagnosed when PCOS is true</a:t>
            </a:r>
          </a:p>
          <a:p>
            <a:r>
              <a:rPr lang="en-US" sz="1800" dirty="0"/>
              <a:t>It’s a useful predictor for Naïve Bayes and decision tree because its varies widely in the dataset</a:t>
            </a:r>
          </a:p>
          <a:p>
            <a:endParaRPr lang="en-US" sz="1800" dirty="0"/>
          </a:p>
          <a:p>
            <a:endParaRPr lang="en-US" sz="1800" dirty="0"/>
          </a:p>
          <a:p>
            <a:endParaRPr lang="en-US" sz="1800" dirty="0"/>
          </a:p>
        </p:txBody>
      </p:sp>
    </p:spTree>
    <p:extLst>
      <p:ext uri="{BB962C8B-B14F-4D97-AF65-F5344CB8AC3E}">
        <p14:creationId xmlns:p14="http://schemas.microsoft.com/office/powerpoint/2010/main" val="2651909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D59064A-7BD3-673D-2606-9507EFB48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EDCE0F-120A-9D62-3E3A-5A4CDE820140}"/>
              </a:ext>
            </a:extLst>
          </p:cNvPr>
          <p:cNvSpPr>
            <a:spLocks noGrp="1"/>
          </p:cNvSpPr>
          <p:nvPr>
            <p:ph type="title"/>
          </p:nvPr>
        </p:nvSpPr>
        <p:spPr>
          <a:xfrm>
            <a:off x="341680" y="5358269"/>
            <a:ext cx="7204271" cy="1094733"/>
          </a:xfrm>
        </p:spPr>
        <p:txBody>
          <a:bodyPr vert="horz" lIns="91440" tIns="45720" rIns="91440" bIns="45720" rtlCol="0" anchor="t">
            <a:normAutofit/>
          </a:bodyPr>
          <a:lstStyle/>
          <a:p>
            <a:r>
              <a:rPr lang="en-US" b="1" kern="1200">
                <a:solidFill>
                  <a:schemeClr val="tx1"/>
                </a:solidFill>
                <a:latin typeface="+mj-lt"/>
                <a:ea typeface="+mj-ea"/>
                <a:cs typeface="+mj-cs"/>
              </a:rPr>
              <a:t>HISTOGRAM 3</a:t>
            </a:r>
          </a:p>
        </p:txBody>
      </p:sp>
      <p:pic>
        <p:nvPicPr>
          <p:cNvPr id="6" name="Content Placeholder 5" descr="A graph of a number of people&#10;&#10;Description automatically generated with medium confidence">
            <a:extLst>
              <a:ext uri="{FF2B5EF4-FFF2-40B4-BE49-F238E27FC236}">
                <a16:creationId xmlns:a16="http://schemas.microsoft.com/office/drawing/2014/main" id="{CB995898-C331-8E7D-E845-4AA3F4A71AAB}"/>
              </a:ext>
            </a:extLst>
          </p:cNvPr>
          <p:cNvPicPr>
            <a:picLocks noGrp="1" noChangeAspect="1"/>
          </p:cNvPicPr>
          <p:nvPr>
            <p:ph sz="half" idx="1"/>
          </p:nvPr>
        </p:nvPicPr>
        <p:blipFill>
          <a:blip r:embed="rId2"/>
          <a:srcRect l="77" r="7061"/>
          <a:stretch/>
        </p:blipFill>
        <p:spPr>
          <a:xfrm>
            <a:off x="419099" y="419102"/>
            <a:ext cx="7129183" cy="4663886"/>
          </a:xfrm>
          <a:prstGeom prst="rect">
            <a:avLst/>
          </a:prstGeom>
        </p:spPr>
      </p:pic>
      <p:sp>
        <p:nvSpPr>
          <p:cNvPr id="4" name="Content Placeholder 3">
            <a:extLst>
              <a:ext uri="{FF2B5EF4-FFF2-40B4-BE49-F238E27FC236}">
                <a16:creationId xmlns:a16="http://schemas.microsoft.com/office/drawing/2014/main" id="{13DD9F69-4F69-4EAA-A554-005A7F0D12C9}"/>
              </a:ext>
            </a:extLst>
          </p:cNvPr>
          <p:cNvSpPr>
            <a:spLocks noGrp="1"/>
          </p:cNvSpPr>
          <p:nvPr>
            <p:ph sz="half" idx="2"/>
          </p:nvPr>
        </p:nvSpPr>
        <p:spPr>
          <a:xfrm>
            <a:off x="8050306" y="419102"/>
            <a:ext cx="3434399" cy="6033900"/>
          </a:xfrm>
        </p:spPr>
        <p:txBody>
          <a:bodyPr vert="horz" lIns="91440" tIns="45720" rIns="91440" bIns="45720" rtlCol="0">
            <a:normAutofit/>
          </a:bodyPr>
          <a:lstStyle/>
          <a:p>
            <a:r>
              <a:rPr lang="en-US" sz="1800" dirty="0"/>
              <a:t>The range of the ages are around 17 – 45.</a:t>
            </a:r>
          </a:p>
          <a:p>
            <a:r>
              <a:rPr lang="en-US" sz="1800" dirty="0"/>
              <a:t>The histogram is fairly distributed but after 20 and 35 it dips and during 18-20 and 42 -45 it spikes.</a:t>
            </a:r>
          </a:p>
          <a:p>
            <a:r>
              <a:rPr lang="en-US" sz="1800" dirty="0"/>
              <a:t>Other than that the data is balanced</a:t>
            </a:r>
          </a:p>
          <a:p>
            <a:r>
              <a:rPr lang="en-US" sz="1800" dirty="0"/>
              <a:t>The symptoms of PCOS are commonly from late teens to early 30s so having a wider range can help detect PCOS differently at multiple age groups.</a:t>
            </a:r>
          </a:p>
        </p:txBody>
      </p:sp>
    </p:spTree>
    <p:extLst>
      <p:ext uri="{BB962C8B-B14F-4D97-AF65-F5344CB8AC3E}">
        <p14:creationId xmlns:p14="http://schemas.microsoft.com/office/powerpoint/2010/main" val="306593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D59064A-7BD3-673D-2606-9507EFB48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B01AB7-3E41-C020-D90D-D1A6FCBEF7FB}"/>
              </a:ext>
            </a:extLst>
          </p:cNvPr>
          <p:cNvSpPr>
            <a:spLocks noGrp="1"/>
          </p:cNvSpPr>
          <p:nvPr>
            <p:ph type="title"/>
          </p:nvPr>
        </p:nvSpPr>
        <p:spPr>
          <a:xfrm>
            <a:off x="341680" y="5358269"/>
            <a:ext cx="7204271" cy="1094733"/>
          </a:xfrm>
        </p:spPr>
        <p:txBody>
          <a:bodyPr vert="horz" lIns="91440" tIns="45720" rIns="91440" bIns="45720" rtlCol="0" anchor="t">
            <a:normAutofit/>
          </a:bodyPr>
          <a:lstStyle/>
          <a:p>
            <a:r>
              <a:rPr lang="en-US" b="1" kern="1200">
                <a:solidFill>
                  <a:schemeClr val="tx1"/>
                </a:solidFill>
                <a:latin typeface="+mj-lt"/>
                <a:ea typeface="+mj-ea"/>
                <a:cs typeface="+mj-cs"/>
              </a:rPr>
              <a:t>BAR GRAPH</a:t>
            </a:r>
          </a:p>
        </p:txBody>
      </p:sp>
      <p:pic>
        <p:nvPicPr>
          <p:cNvPr id="6" name="Content Placeholder 5" descr="A graph with a pink square&#10;&#10;Description automatically generated">
            <a:extLst>
              <a:ext uri="{FF2B5EF4-FFF2-40B4-BE49-F238E27FC236}">
                <a16:creationId xmlns:a16="http://schemas.microsoft.com/office/drawing/2014/main" id="{E2D4469D-2664-66E4-F347-3E1AC24972D4}"/>
              </a:ext>
            </a:extLst>
          </p:cNvPr>
          <p:cNvPicPr>
            <a:picLocks noGrp="1" noChangeAspect="1"/>
          </p:cNvPicPr>
          <p:nvPr>
            <p:ph sz="half" idx="1"/>
          </p:nvPr>
        </p:nvPicPr>
        <p:blipFill>
          <a:blip r:embed="rId2"/>
          <a:srcRect r="3696" b="-3"/>
          <a:stretch/>
        </p:blipFill>
        <p:spPr>
          <a:xfrm>
            <a:off x="419099" y="419102"/>
            <a:ext cx="7129183" cy="4663886"/>
          </a:xfrm>
          <a:prstGeom prst="rect">
            <a:avLst/>
          </a:prstGeom>
        </p:spPr>
      </p:pic>
      <p:sp>
        <p:nvSpPr>
          <p:cNvPr id="4" name="Content Placeholder 3">
            <a:extLst>
              <a:ext uri="{FF2B5EF4-FFF2-40B4-BE49-F238E27FC236}">
                <a16:creationId xmlns:a16="http://schemas.microsoft.com/office/drawing/2014/main" id="{36C8A82E-31C0-B3AB-18B0-1BFBCB85D931}"/>
              </a:ext>
            </a:extLst>
          </p:cNvPr>
          <p:cNvSpPr>
            <a:spLocks noGrp="1"/>
          </p:cNvSpPr>
          <p:nvPr>
            <p:ph sz="half" idx="2"/>
          </p:nvPr>
        </p:nvSpPr>
        <p:spPr>
          <a:xfrm>
            <a:off x="8050306" y="419102"/>
            <a:ext cx="3434399" cy="6033900"/>
          </a:xfrm>
        </p:spPr>
        <p:txBody>
          <a:bodyPr vert="horz" lIns="91440" tIns="45720" rIns="91440" bIns="45720" rtlCol="0">
            <a:normAutofit/>
          </a:bodyPr>
          <a:lstStyle/>
          <a:p>
            <a:r>
              <a:rPr lang="en-US" sz="1800" dirty="0"/>
              <a:t>The bar compares the number of people with PCOS and without PCOS.</a:t>
            </a:r>
          </a:p>
          <a:p>
            <a:r>
              <a:rPr lang="en-US" sz="1800" dirty="0"/>
              <a:t>0 = no PCOS, around 800 people </a:t>
            </a:r>
          </a:p>
          <a:p>
            <a:r>
              <a:rPr lang="en-US" sz="1800" dirty="0"/>
              <a:t>1 = PCOS, around 200 people</a:t>
            </a:r>
          </a:p>
          <a:p>
            <a:r>
              <a:rPr lang="en-US" sz="1800" dirty="0"/>
              <a:t>Even though this data is imbalanced I split both classes using </a:t>
            </a:r>
            <a:r>
              <a:rPr lang="en-US" sz="1800" dirty="0" err="1"/>
              <a:t>initial_split</a:t>
            </a:r>
            <a:r>
              <a:rPr lang="en-US" sz="1800" dirty="0"/>
              <a:t>() (which I learned from </a:t>
            </a:r>
            <a:r>
              <a:rPr lang="en-US" sz="1800" dirty="0" err="1"/>
              <a:t>split_train_test</a:t>
            </a:r>
            <a:r>
              <a:rPr lang="en-US" sz="1800" dirty="0"/>
              <a:t> lecture pdf.) which ensures both classes are </a:t>
            </a:r>
            <a:r>
              <a:rPr lang="en-US" sz="1800" dirty="0" err="1"/>
              <a:t>propotionally</a:t>
            </a:r>
            <a:r>
              <a:rPr lang="en-US" sz="1800" dirty="0"/>
              <a:t> represented in training and test sets.</a:t>
            </a:r>
          </a:p>
        </p:txBody>
      </p:sp>
    </p:spTree>
    <p:extLst>
      <p:ext uri="{BB962C8B-B14F-4D97-AF65-F5344CB8AC3E}">
        <p14:creationId xmlns:p14="http://schemas.microsoft.com/office/powerpoint/2010/main" val="2266699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D59064A-7BD3-673D-2606-9507EFB48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E31A35-8154-B31C-6593-F013ED392965}"/>
              </a:ext>
            </a:extLst>
          </p:cNvPr>
          <p:cNvSpPr>
            <a:spLocks noGrp="1"/>
          </p:cNvSpPr>
          <p:nvPr>
            <p:ph type="title"/>
          </p:nvPr>
        </p:nvSpPr>
        <p:spPr>
          <a:xfrm>
            <a:off x="341680" y="5358269"/>
            <a:ext cx="7204271" cy="1094733"/>
          </a:xfrm>
        </p:spPr>
        <p:txBody>
          <a:bodyPr vert="horz" lIns="91440" tIns="45720" rIns="91440" bIns="45720" rtlCol="0" anchor="t">
            <a:normAutofit/>
          </a:bodyPr>
          <a:lstStyle/>
          <a:p>
            <a:r>
              <a:rPr lang="en-US" sz="3200" b="1" kern="1200" dirty="0">
                <a:solidFill>
                  <a:schemeClr val="tx1"/>
                </a:solidFill>
                <a:latin typeface="+mj-lt"/>
                <a:ea typeface="+mj-ea"/>
                <a:cs typeface="+mj-cs"/>
              </a:rPr>
              <a:t>BAR GRAPH</a:t>
            </a:r>
            <a:br>
              <a:rPr lang="en-US" sz="2300" b="1" kern="1200" dirty="0">
                <a:solidFill>
                  <a:schemeClr val="tx1"/>
                </a:solidFill>
                <a:latin typeface="+mj-lt"/>
                <a:ea typeface="+mj-ea"/>
                <a:cs typeface="+mj-cs"/>
              </a:rPr>
            </a:br>
            <a:r>
              <a:rPr lang="en-US" sz="2300" b="0" kern="1200" dirty="0">
                <a:solidFill>
                  <a:schemeClr val="tx1"/>
                </a:solidFill>
                <a:latin typeface="+mj-lt"/>
                <a:ea typeface="+mj-ea"/>
                <a:cs typeface="+mj-cs"/>
              </a:rPr>
              <a:t>(Why I removed Menstrual Irregularity feature)</a:t>
            </a:r>
          </a:p>
        </p:txBody>
      </p:sp>
      <p:pic>
        <p:nvPicPr>
          <p:cNvPr id="6" name="Content Placeholder 5" descr="A graph showing a diagram&#10;&#10;Description automatically generated with medium confidence">
            <a:extLst>
              <a:ext uri="{FF2B5EF4-FFF2-40B4-BE49-F238E27FC236}">
                <a16:creationId xmlns:a16="http://schemas.microsoft.com/office/drawing/2014/main" id="{4F7DC1F2-3255-AB6B-BE4B-A56A5587CCA4}"/>
              </a:ext>
            </a:extLst>
          </p:cNvPr>
          <p:cNvPicPr>
            <a:picLocks noGrp="1" noChangeAspect="1"/>
          </p:cNvPicPr>
          <p:nvPr>
            <p:ph sz="half" idx="1"/>
          </p:nvPr>
        </p:nvPicPr>
        <p:blipFill>
          <a:blip r:embed="rId2"/>
          <a:srcRect r="6754" b="-2"/>
          <a:stretch/>
        </p:blipFill>
        <p:spPr>
          <a:xfrm>
            <a:off x="419099" y="419102"/>
            <a:ext cx="7129183" cy="4663886"/>
          </a:xfrm>
          <a:prstGeom prst="rect">
            <a:avLst/>
          </a:prstGeom>
        </p:spPr>
      </p:pic>
      <p:sp>
        <p:nvSpPr>
          <p:cNvPr id="4" name="Content Placeholder 3">
            <a:extLst>
              <a:ext uri="{FF2B5EF4-FFF2-40B4-BE49-F238E27FC236}">
                <a16:creationId xmlns:a16="http://schemas.microsoft.com/office/drawing/2014/main" id="{7B32F4DC-79FD-7BA9-0D1C-754C53493DFE}"/>
              </a:ext>
            </a:extLst>
          </p:cNvPr>
          <p:cNvSpPr>
            <a:spLocks noGrp="1"/>
          </p:cNvSpPr>
          <p:nvPr>
            <p:ph sz="half" idx="2"/>
          </p:nvPr>
        </p:nvSpPr>
        <p:spPr>
          <a:xfrm>
            <a:off x="8050306" y="419102"/>
            <a:ext cx="3434399" cy="6033900"/>
          </a:xfrm>
        </p:spPr>
        <p:txBody>
          <a:bodyPr vert="horz" lIns="91440" tIns="45720" rIns="91440" bIns="45720" rtlCol="0">
            <a:normAutofit/>
          </a:bodyPr>
          <a:lstStyle/>
          <a:p>
            <a:r>
              <a:rPr lang="en-US" sz="1800" dirty="0"/>
              <a:t>Every person with PCOS also has menstrual irregularity.</a:t>
            </a:r>
          </a:p>
          <a:p>
            <a:endParaRPr lang="en-US" sz="1800" dirty="0"/>
          </a:p>
          <a:p>
            <a:endParaRPr lang="en-US" sz="1800" dirty="0"/>
          </a:p>
          <a:p>
            <a:endParaRPr lang="en-US" sz="1800" dirty="0"/>
          </a:p>
          <a:p>
            <a:endParaRPr lang="en-US" sz="1800" dirty="0"/>
          </a:p>
          <a:p>
            <a:r>
              <a:rPr lang="en-US" sz="1800" dirty="0"/>
              <a:t>This shows 100% of PCOS cases had irregularity</a:t>
            </a:r>
          </a:p>
          <a:p>
            <a:r>
              <a:rPr lang="en-US" sz="1800" dirty="0"/>
              <a:t>There is no variation in PCOS group and it overlaps with the target variable which created problems in Naïve bayes.</a:t>
            </a:r>
          </a:p>
          <a:p>
            <a:endParaRPr lang="en-US" sz="1800" dirty="0"/>
          </a:p>
          <a:p>
            <a:endParaRPr lang="en-US" sz="1800" dirty="0"/>
          </a:p>
          <a:p>
            <a:endParaRPr lang="en-US" sz="1800" dirty="0"/>
          </a:p>
          <a:p>
            <a:endParaRPr lang="en-US" sz="1800" dirty="0"/>
          </a:p>
          <a:p>
            <a:pPr marL="0" indent="0">
              <a:buNone/>
            </a:pPr>
            <a:endParaRPr lang="en-US" sz="1800" dirty="0"/>
          </a:p>
          <a:p>
            <a:endParaRPr lang="en-US" sz="1800" dirty="0"/>
          </a:p>
        </p:txBody>
      </p:sp>
      <p:pic>
        <p:nvPicPr>
          <p:cNvPr id="8" name="Picture 7" descr="A number with numbers on it&#10;&#10;Description automatically generated with medium confidence">
            <a:extLst>
              <a:ext uri="{FF2B5EF4-FFF2-40B4-BE49-F238E27FC236}">
                <a16:creationId xmlns:a16="http://schemas.microsoft.com/office/drawing/2014/main" id="{993EA46B-48BE-AC03-9FB7-8A177FBB8B79}"/>
              </a:ext>
            </a:extLst>
          </p:cNvPr>
          <p:cNvPicPr>
            <a:picLocks noChangeAspect="1"/>
          </p:cNvPicPr>
          <p:nvPr/>
        </p:nvPicPr>
        <p:blipFill>
          <a:blip r:embed="rId3"/>
          <a:stretch>
            <a:fillRect/>
          </a:stretch>
        </p:blipFill>
        <p:spPr>
          <a:xfrm>
            <a:off x="8639760" y="1712682"/>
            <a:ext cx="2132395" cy="1716318"/>
          </a:xfrm>
          <a:prstGeom prst="rect">
            <a:avLst/>
          </a:prstGeom>
        </p:spPr>
      </p:pic>
    </p:spTree>
    <p:extLst>
      <p:ext uri="{BB962C8B-B14F-4D97-AF65-F5344CB8AC3E}">
        <p14:creationId xmlns:p14="http://schemas.microsoft.com/office/powerpoint/2010/main" val="2875163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D59064A-7BD3-673D-2606-9507EFB48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5E67AF-25F0-E170-BD8A-D23E6414D7A6}"/>
              </a:ext>
            </a:extLst>
          </p:cNvPr>
          <p:cNvSpPr>
            <a:spLocks noGrp="1"/>
          </p:cNvSpPr>
          <p:nvPr>
            <p:ph type="title"/>
          </p:nvPr>
        </p:nvSpPr>
        <p:spPr>
          <a:xfrm>
            <a:off x="341680" y="5358269"/>
            <a:ext cx="7204271" cy="1094733"/>
          </a:xfrm>
        </p:spPr>
        <p:txBody>
          <a:bodyPr vert="horz" lIns="91440" tIns="45720" rIns="91440" bIns="45720" rtlCol="0" anchor="t">
            <a:normAutofit/>
          </a:bodyPr>
          <a:lstStyle/>
          <a:p>
            <a:r>
              <a:rPr lang="en-US" b="1" kern="1200">
                <a:solidFill>
                  <a:schemeClr val="tx1"/>
                </a:solidFill>
                <a:latin typeface="+mj-lt"/>
                <a:ea typeface="+mj-ea"/>
                <a:cs typeface="+mj-cs"/>
              </a:rPr>
              <a:t>BOX PLOT</a:t>
            </a:r>
          </a:p>
        </p:txBody>
      </p:sp>
      <p:pic>
        <p:nvPicPr>
          <p:cNvPr id="6" name="Content Placeholder 5" descr="A chart with yellow rectangles&#10;&#10;Description automatically generated">
            <a:extLst>
              <a:ext uri="{FF2B5EF4-FFF2-40B4-BE49-F238E27FC236}">
                <a16:creationId xmlns:a16="http://schemas.microsoft.com/office/drawing/2014/main" id="{AE40ECAD-BA50-5AB9-F107-7E48C8CAF19F}"/>
              </a:ext>
            </a:extLst>
          </p:cNvPr>
          <p:cNvPicPr>
            <a:picLocks noGrp="1" noChangeAspect="1"/>
          </p:cNvPicPr>
          <p:nvPr>
            <p:ph sz="half" idx="1"/>
          </p:nvPr>
        </p:nvPicPr>
        <p:blipFill>
          <a:blip r:embed="rId2"/>
          <a:srcRect r="5609" b="-1"/>
          <a:stretch/>
        </p:blipFill>
        <p:spPr>
          <a:xfrm>
            <a:off x="419099" y="419102"/>
            <a:ext cx="7129183" cy="4663886"/>
          </a:xfrm>
          <a:prstGeom prst="rect">
            <a:avLst/>
          </a:prstGeom>
        </p:spPr>
      </p:pic>
      <p:sp>
        <p:nvSpPr>
          <p:cNvPr id="4" name="Content Placeholder 3">
            <a:extLst>
              <a:ext uri="{FF2B5EF4-FFF2-40B4-BE49-F238E27FC236}">
                <a16:creationId xmlns:a16="http://schemas.microsoft.com/office/drawing/2014/main" id="{01D6EDCC-D348-053A-5729-B029DB552BFD}"/>
              </a:ext>
            </a:extLst>
          </p:cNvPr>
          <p:cNvSpPr>
            <a:spLocks noGrp="1"/>
          </p:cNvSpPr>
          <p:nvPr>
            <p:ph sz="half" idx="2"/>
          </p:nvPr>
        </p:nvSpPr>
        <p:spPr>
          <a:xfrm>
            <a:off x="8050306" y="419102"/>
            <a:ext cx="3434399" cy="6033900"/>
          </a:xfrm>
        </p:spPr>
        <p:txBody>
          <a:bodyPr vert="horz" lIns="91440" tIns="45720" rIns="91440" bIns="45720" rtlCol="0">
            <a:normAutofit/>
          </a:bodyPr>
          <a:lstStyle/>
          <a:p>
            <a:r>
              <a:rPr lang="en-US" sz="1800" dirty="0"/>
              <a:t>The median testosterone level is higher in PCOS (yes) than in non-PCOS.</a:t>
            </a:r>
          </a:p>
          <a:p>
            <a:r>
              <a:rPr lang="en-US" sz="1800" dirty="0"/>
              <a:t>There is some overlap but PCOS(yes) has a higher value of testosterone level making it strong predictive feature for classification of PCOS.</a:t>
            </a:r>
          </a:p>
          <a:p>
            <a:r>
              <a:rPr lang="en-US" sz="1800" dirty="0"/>
              <a:t>That’s why is could be a key predictor for Naïve Bayes and decision tree</a:t>
            </a:r>
          </a:p>
        </p:txBody>
      </p:sp>
    </p:spTree>
    <p:extLst>
      <p:ext uri="{BB962C8B-B14F-4D97-AF65-F5344CB8AC3E}">
        <p14:creationId xmlns:p14="http://schemas.microsoft.com/office/powerpoint/2010/main" val="3114234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D59064A-7BD3-673D-2606-9507EFB48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A92F5A-4F49-E867-F9CB-E333089323F3}"/>
              </a:ext>
            </a:extLst>
          </p:cNvPr>
          <p:cNvSpPr>
            <a:spLocks noGrp="1"/>
          </p:cNvSpPr>
          <p:nvPr>
            <p:ph type="title"/>
          </p:nvPr>
        </p:nvSpPr>
        <p:spPr>
          <a:xfrm>
            <a:off x="341680" y="5358269"/>
            <a:ext cx="7204271" cy="1094733"/>
          </a:xfrm>
        </p:spPr>
        <p:txBody>
          <a:bodyPr vert="horz" lIns="91440" tIns="45720" rIns="91440" bIns="45720" rtlCol="0" anchor="t">
            <a:normAutofit/>
          </a:bodyPr>
          <a:lstStyle/>
          <a:p>
            <a:r>
              <a:rPr lang="en-US" b="1" kern="1200">
                <a:solidFill>
                  <a:schemeClr val="tx1"/>
                </a:solidFill>
                <a:latin typeface="+mj-lt"/>
                <a:ea typeface="+mj-ea"/>
                <a:cs typeface="+mj-cs"/>
              </a:rPr>
              <a:t>BOX PLOT</a:t>
            </a:r>
          </a:p>
        </p:txBody>
      </p:sp>
      <p:pic>
        <p:nvPicPr>
          <p:cNvPr id="6" name="Content Placeholder 5" descr="A diagram of a patient's diagnosis&#10;&#10;Description automatically generated">
            <a:extLst>
              <a:ext uri="{FF2B5EF4-FFF2-40B4-BE49-F238E27FC236}">
                <a16:creationId xmlns:a16="http://schemas.microsoft.com/office/drawing/2014/main" id="{1D43844D-79FC-E52D-EE74-5D8915862F04}"/>
              </a:ext>
            </a:extLst>
          </p:cNvPr>
          <p:cNvPicPr>
            <a:picLocks noGrp="1" noChangeAspect="1"/>
          </p:cNvPicPr>
          <p:nvPr>
            <p:ph sz="half" idx="1"/>
          </p:nvPr>
        </p:nvPicPr>
        <p:blipFill>
          <a:blip r:embed="rId2"/>
          <a:srcRect r="5227"/>
          <a:stretch/>
        </p:blipFill>
        <p:spPr>
          <a:xfrm>
            <a:off x="419099" y="419102"/>
            <a:ext cx="7129183" cy="4663886"/>
          </a:xfrm>
          <a:prstGeom prst="rect">
            <a:avLst/>
          </a:prstGeom>
        </p:spPr>
      </p:pic>
      <p:sp>
        <p:nvSpPr>
          <p:cNvPr id="4" name="Content Placeholder 3">
            <a:extLst>
              <a:ext uri="{FF2B5EF4-FFF2-40B4-BE49-F238E27FC236}">
                <a16:creationId xmlns:a16="http://schemas.microsoft.com/office/drawing/2014/main" id="{56CABF64-358E-7E72-42B1-B567561554FA}"/>
              </a:ext>
            </a:extLst>
          </p:cNvPr>
          <p:cNvSpPr>
            <a:spLocks noGrp="1"/>
          </p:cNvSpPr>
          <p:nvPr>
            <p:ph sz="half" idx="2"/>
          </p:nvPr>
        </p:nvSpPr>
        <p:spPr>
          <a:xfrm>
            <a:off x="8050306" y="419102"/>
            <a:ext cx="3434399" cy="6033900"/>
          </a:xfrm>
        </p:spPr>
        <p:txBody>
          <a:bodyPr vert="horz" lIns="91440" tIns="45720" rIns="91440" bIns="45720" rtlCol="0">
            <a:normAutofit/>
          </a:bodyPr>
          <a:lstStyle/>
          <a:p>
            <a:r>
              <a:rPr lang="en-US" sz="1800" b="0" i="0" u="none" strike="noStrike" dirty="0">
                <a:solidFill>
                  <a:srgbClr val="000000"/>
                </a:solidFill>
                <a:effectLst/>
              </a:rPr>
              <a:t>The median BMI is higher in individuals with PCOS (Yes) </a:t>
            </a:r>
            <a:r>
              <a:rPr lang="en-US" sz="1800" dirty="0">
                <a:solidFill>
                  <a:srgbClr val="000000"/>
                </a:solidFill>
              </a:rPr>
              <a:t>than with non-</a:t>
            </a:r>
            <a:r>
              <a:rPr lang="en-US" sz="1800" b="0" i="0" u="none" strike="noStrike" dirty="0">
                <a:solidFill>
                  <a:srgbClr val="000000"/>
                </a:solidFill>
                <a:effectLst/>
              </a:rPr>
              <a:t>PCOS (No).</a:t>
            </a:r>
          </a:p>
          <a:p>
            <a:r>
              <a:rPr lang="en-US" sz="1800" b="0" i="0" u="none" strike="noStrike" dirty="0">
                <a:solidFill>
                  <a:srgbClr val="000000"/>
                </a:solidFill>
                <a:effectLst/>
              </a:rPr>
              <a:t>There is some overlap between the two groups, but the PCOS group clearly shows elevated BMI levels, making it a strong predictive feature for classification</a:t>
            </a:r>
          </a:p>
          <a:p>
            <a:r>
              <a:rPr lang="en-US" sz="1800" b="0" i="0" u="none" strike="noStrike" dirty="0">
                <a:solidFill>
                  <a:srgbClr val="000000"/>
                </a:solidFill>
                <a:effectLst/>
              </a:rPr>
              <a:t>That’s why BMI could be a key predictor for both the Naïve Bayes and Decision Tree.</a:t>
            </a:r>
            <a:endParaRPr lang="en-US" sz="1800" dirty="0">
              <a:solidFill>
                <a:srgbClr val="000000"/>
              </a:solidFill>
            </a:endParaRPr>
          </a:p>
        </p:txBody>
      </p:sp>
    </p:spTree>
    <p:extLst>
      <p:ext uri="{BB962C8B-B14F-4D97-AF65-F5344CB8AC3E}">
        <p14:creationId xmlns:p14="http://schemas.microsoft.com/office/powerpoint/2010/main" val="3253142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D59064A-7BD3-673D-2606-9507EFB48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975956-9260-7EC0-2797-07C17F299549}"/>
              </a:ext>
            </a:extLst>
          </p:cNvPr>
          <p:cNvSpPr>
            <a:spLocks noGrp="1"/>
          </p:cNvSpPr>
          <p:nvPr>
            <p:ph type="title"/>
          </p:nvPr>
        </p:nvSpPr>
        <p:spPr>
          <a:xfrm>
            <a:off x="341680" y="5358269"/>
            <a:ext cx="7204271" cy="1094733"/>
          </a:xfrm>
        </p:spPr>
        <p:txBody>
          <a:bodyPr vert="horz" lIns="91440" tIns="45720" rIns="91440" bIns="45720" rtlCol="0" anchor="t">
            <a:normAutofit/>
          </a:bodyPr>
          <a:lstStyle/>
          <a:p>
            <a:r>
              <a:rPr lang="en-US" b="1" kern="1200">
                <a:solidFill>
                  <a:schemeClr val="tx1"/>
                </a:solidFill>
                <a:latin typeface="+mj-lt"/>
                <a:ea typeface="+mj-ea"/>
                <a:cs typeface="+mj-cs"/>
              </a:rPr>
              <a:t>BOX PLOT</a:t>
            </a:r>
          </a:p>
        </p:txBody>
      </p:sp>
      <p:pic>
        <p:nvPicPr>
          <p:cNvPr id="6" name="Content Placeholder 5" descr="A graph showing a diagram&#10;&#10;Description automatically generated">
            <a:extLst>
              <a:ext uri="{FF2B5EF4-FFF2-40B4-BE49-F238E27FC236}">
                <a16:creationId xmlns:a16="http://schemas.microsoft.com/office/drawing/2014/main" id="{13E64524-26D2-7E60-EE0E-07947E78866E}"/>
              </a:ext>
            </a:extLst>
          </p:cNvPr>
          <p:cNvPicPr>
            <a:picLocks noGrp="1" noChangeAspect="1"/>
          </p:cNvPicPr>
          <p:nvPr>
            <p:ph sz="half" idx="1"/>
          </p:nvPr>
        </p:nvPicPr>
        <p:blipFill>
          <a:blip r:embed="rId3"/>
          <a:srcRect r="4465" b="2"/>
          <a:stretch/>
        </p:blipFill>
        <p:spPr>
          <a:xfrm>
            <a:off x="419099" y="419102"/>
            <a:ext cx="7129183" cy="4663886"/>
          </a:xfrm>
          <a:prstGeom prst="rect">
            <a:avLst/>
          </a:prstGeom>
        </p:spPr>
      </p:pic>
      <p:sp>
        <p:nvSpPr>
          <p:cNvPr id="4" name="Content Placeholder 3">
            <a:extLst>
              <a:ext uri="{FF2B5EF4-FFF2-40B4-BE49-F238E27FC236}">
                <a16:creationId xmlns:a16="http://schemas.microsoft.com/office/drawing/2014/main" id="{E4E466A9-ECEF-C53F-D219-33C6CA6C87BE}"/>
              </a:ext>
            </a:extLst>
          </p:cNvPr>
          <p:cNvSpPr>
            <a:spLocks noGrp="1"/>
          </p:cNvSpPr>
          <p:nvPr>
            <p:ph sz="half" idx="2"/>
          </p:nvPr>
        </p:nvSpPr>
        <p:spPr>
          <a:xfrm>
            <a:off x="8050306" y="419102"/>
            <a:ext cx="3434399" cy="6033900"/>
          </a:xfrm>
        </p:spPr>
        <p:txBody>
          <a:bodyPr vert="horz" lIns="91440" tIns="45720" rIns="91440" bIns="45720" rtlCol="0">
            <a:normAutofit/>
          </a:bodyPr>
          <a:lstStyle/>
          <a:p>
            <a:r>
              <a:rPr lang="en-US" sz="1800" b="0" i="0" u="none" strike="noStrike" dirty="0">
                <a:solidFill>
                  <a:srgbClr val="000000"/>
                </a:solidFill>
                <a:effectLst/>
              </a:rPr>
              <a:t>The median antral follicle count is higher in individuals with PCOS (Yes) than with non-PCOS (No).</a:t>
            </a:r>
          </a:p>
          <a:p>
            <a:r>
              <a:rPr lang="en-US" sz="1800" b="0" i="0" u="none" strike="noStrike" dirty="0">
                <a:solidFill>
                  <a:srgbClr val="000000"/>
                </a:solidFill>
                <a:effectLst/>
              </a:rPr>
              <a:t>While there is some overlap between the groups, PCOS-diagnosed individuals consistently show elevated follicle counts. </a:t>
            </a:r>
            <a:r>
              <a:rPr lang="en-US" sz="1800" dirty="0">
                <a:solidFill>
                  <a:srgbClr val="000000"/>
                </a:solidFill>
              </a:rPr>
              <a:t>This is similar to boxplot with testosterone level</a:t>
            </a:r>
          </a:p>
          <a:p>
            <a:r>
              <a:rPr lang="en-US" sz="1800" b="0" i="0" u="none" strike="noStrike" dirty="0">
                <a:solidFill>
                  <a:srgbClr val="000000"/>
                </a:solidFill>
                <a:effectLst/>
              </a:rPr>
              <a:t>This makes antral follicle count a strong feature(clinical) and a valuable predictor in both Naïve Bayes and Decision Tree models.</a:t>
            </a:r>
            <a:endParaRPr lang="en-US" sz="1800" dirty="0"/>
          </a:p>
        </p:txBody>
      </p:sp>
    </p:spTree>
    <p:extLst>
      <p:ext uri="{BB962C8B-B14F-4D97-AF65-F5344CB8AC3E}">
        <p14:creationId xmlns:p14="http://schemas.microsoft.com/office/powerpoint/2010/main" val="3136803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37D0EE1-86ED-BC8D-E3D0-54E0F0015FF8}"/>
              </a:ext>
            </a:extLst>
          </p:cNvPr>
          <p:cNvSpPr>
            <a:spLocks noGrp="1"/>
          </p:cNvSpPr>
          <p:nvPr>
            <p:ph type="title"/>
          </p:nvPr>
        </p:nvSpPr>
        <p:spPr>
          <a:xfrm>
            <a:off x="612648" y="548640"/>
            <a:ext cx="10966704" cy="1132258"/>
          </a:xfrm>
        </p:spPr>
        <p:txBody>
          <a:bodyPr>
            <a:normAutofit/>
          </a:bodyPr>
          <a:lstStyle/>
          <a:p>
            <a:r>
              <a:rPr lang="en-US" dirty="0"/>
              <a:t>        NAÏVE BAYES                 DECISION TREE </a:t>
            </a:r>
            <a:r>
              <a:rPr lang="en-US" sz="1600" dirty="0"/>
              <a:t>(prediction)</a:t>
            </a:r>
            <a:br>
              <a:rPr lang="en-US" sz="1600" dirty="0"/>
            </a:br>
            <a:r>
              <a:rPr lang="en-US" dirty="0"/>
              <a:t>                                                         </a:t>
            </a:r>
          </a:p>
        </p:txBody>
      </p:sp>
      <p:pic>
        <p:nvPicPr>
          <p:cNvPr id="8" name="Content Placeholder 7" descr="A screenshot of a computer&#10;&#10;Description automatically generated">
            <a:extLst>
              <a:ext uri="{FF2B5EF4-FFF2-40B4-BE49-F238E27FC236}">
                <a16:creationId xmlns:a16="http://schemas.microsoft.com/office/drawing/2014/main" id="{828AE4A8-3544-3171-9875-EAF6C68283F1}"/>
              </a:ext>
            </a:extLst>
          </p:cNvPr>
          <p:cNvPicPr>
            <a:picLocks noGrp="1" noChangeAspect="1"/>
          </p:cNvPicPr>
          <p:nvPr>
            <p:ph idx="1"/>
          </p:nvPr>
        </p:nvPicPr>
        <p:blipFill>
          <a:blip r:embed="rId2"/>
          <a:stretch>
            <a:fillRect/>
          </a:stretch>
        </p:blipFill>
        <p:spPr>
          <a:xfrm>
            <a:off x="1641348" y="1114769"/>
            <a:ext cx="3733800" cy="5447330"/>
          </a:xfrm>
        </p:spPr>
      </p:pic>
      <p:pic>
        <p:nvPicPr>
          <p:cNvPr id="11" name="Picture 10" descr="A screenshot of a computer screen&#10;&#10;Description automatically generated">
            <a:extLst>
              <a:ext uri="{FF2B5EF4-FFF2-40B4-BE49-F238E27FC236}">
                <a16:creationId xmlns:a16="http://schemas.microsoft.com/office/drawing/2014/main" id="{41ED2E34-9817-C0E2-0A9D-1F22877F896F}"/>
              </a:ext>
            </a:extLst>
          </p:cNvPr>
          <p:cNvPicPr>
            <a:picLocks noChangeAspect="1"/>
          </p:cNvPicPr>
          <p:nvPr/>
        </p:nvPicPr>
        <p:blipFill>
          <a:blip r:embed="rId3"/>
          <a:stretch>
            <a:fillRect/>
          </a:stretch>
        </p:blipFill>
        <p:spPr>
          <a:xfrm>
            <a:off x="6816854" y="1114769"/>
            <a:ext cx="3789798" cy="5641631"/>
          </a:xfrm>
          <a:prstGeom prst="rect">
            <a:avLst/>
          </a:prstGeom>
        </p:spPr>
      </p:pic>
    </p:spTree>
    <p:extLst>
      <p:ext uri="{BB962C8B-B14F-4D97-AF65-F5344CB8AC3E}">
        <p14:creationId xmlns:p14="http://schemas.microsoft.com/office/powerpoint/2010/main" val="2401537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81995-CE5A-C096-BCA0-E71600F2A7C0}"/>
              </a:ext>
            </a:extLst>
          </p:cNvPr>
          <p:cNvSpPr>
            <a:spLocks noGrp="1"/>
          </p:cNvSpPr>
          <p:nvPr>
            <p:ph type="title"/>
          </p:nvPr>
        </p:nvSpPr>
        <p:spPr/>
        <p:txBody>
          <a:bodyPr>
            <a:normAutofit/>
          </a:bodyPr>
          <a:lstStyle/>
          <a:p>
            <a:r>
              <a:rPr lang="en-US" sz="3200" dirty="0"/>
              <a:t>DECISION TREE WITH CROSS-VALIDATION(5FOLD)</a:t>
            </a:r>
          </a:p>
        </p:txBody>
      </p:sp>
      <p:pic>
        <p:nvPicPr>
          <p:cNvPr id="9" name="Content Placeholder 8" descr="A screenshot of a computer program&#10;&#10;Description automatically generated">
            <a:extLst>
              <a:ext uri="{FF2B5EF4-FFF2-40B4-BE49-F238E27FC236}">
                <a16:creationId xmlns:a16="http://schemas.microsoft.com/office/drawing/2014/main" id="{32F8763F-5890-A2AF-70B4-836304C4F9B1}"/>
              </a:ext>
            </a:extLst>
          </p:cNvPr>
          <p:cNvPicPr>
            <a:picLocks noGrp="1" noChangeAspect="1"/>
          </p:cNvPicPr>
          <p:nvPr>
            <p:ph idx="1"/>
          </p:nvPr>
        </p:nvPicPr>
        <p:blipFill>
          <a:blip r:embed="rId2"/>
          <a:stretch>
            <a:fillRect/>
          </a:stretch>
        </p:blipFill>
        <p:spPr>
          <a:xfrm>
            <a:off x="612648" y="1680898"/>
            <a:ext cx="4961181" cy="4592637"/>
          </a:xfrm>
        </p:spPr>
      </p:pic>
      <p:pic>
        <p:nvPicPr>
          <p:cNvPr id="11" name="Picture 10" descr="A diagram of a decision tree&#10;&#10;Description automatically generated">
            <a:extLst>
              <a:ext uri="{FF2B5EF4-FFF2-40B4-BE49-F238E27FC236}">
                <a16:creationId xmlns:a16="http://schemas.microsoft.com/office/drawing/2014/main" id="{B91BEB11-695A-712F-41D2-2A11EE2270E0}"/>
              </a:ext>
            </a:extLst>
          </p:cNvPr>
          <p:cNvPicPr>
            <a:picLocks noChangeAspect="1"/>
          </p:cNvPicPr>
          <p:nvPr/>
        </p:nvPicPr>
        <p:blipFill>
          <a:blip r:embed="rId3"/>
          <a:stretch>
            <a:fillRect/>
          </a:stretch>
        </p:blipFill>
        <p:spPr>
          <a:xfrm>
            <a:off x="4419600" y="1116892"/>
            <a:ext cx="7772400" cy="4624216"/>
          </a:xfrm>
          <a:prstGeom prst="rect">
            <a:avLst/>
          </a:prstGeom>
        </p:spPr>
      </p:pic>
    </p:spTree>
    <p:extLst>
      <p:ext uri="{BB962C8B-B14F-4D97-AF65-F5344CB8AC3E}">
        <p14:creationId xmlns:p14="http://schemas.microsoft.com/office/powerpoint/2010/main" val="3635225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B179F72-DE9C-6B99-F63C-0D032D1A9D6F}"/>
              </a:ext>
            </a:extLst>
          </p:cNvPr>
          <p:cNvSpPr>
            <a:spLocks noGrp="1"/>
          </p:cNvSpPr>
          <p:nvPr>
            <p:ph type="title"/>
          </p:nvPr>
        </p:nvSpPr>
        <p:spPr/>
        <p:txBody>
          <a:bodyPr/>
          <a:lstStyle/>
          <a:p>
            <a:pPr algn="ctr"/>
            <a:r>
              <a:rPr lang="en-US"/>
              <a:t>MODEL ACCURACY EVALUATION</a:t>
            </a:r>
            <a:endParaRPr lang="en-US" dirty="0"/>
          </a:p>
        </p:txBody>
      </p:sp>
      <p:pic>
        <p:nvPicPr>
          <p:cNvPr id="8" name="Content Placeholder 7" descr="A graph showing different colored rectangles&#10;&#10;Description automatically generated">
            <a:extLst>
              <a:ext uri="{FF2B5EF4-FFF2-40B4-BE49-F238E27FC236}">
                <a16:creationId xmlns:a16="http://schemas.microsoft.com/office/drawing/2014/main" id="{7B4C2AAC-9BF7-1B88-CE10-C5651FF73D94}"/>
              </a:ext>
            </a:extLst>
          </p:cNvPr>
          <p:cNvPicPr>
            <a:picLocks noGrp="1" noChangeAspect="1"/>
          </p:cNvPicPr>
          <p:nvPr>
            <p:ph idx="1"/>
          </p:nvPr>
        </p:nvPicPr>
        <p:blipFill>
          <a:blip r:embed="rId2"/>
          <a:stretch>
            <a:fillRect/>
          </a:stretch>
        </p:blipFill>
        <p:spPr>
          <a:xfrm>
            <a:off x="4473131" y="1680898"/>
            <a:ext cx="7659126" cy="4834202"/>
          </a:xfrm>
        </p:spPr>
      </p:pic>
      <p:pic>
        <p:nvPicPr>
          <p:cNvPr id="10" name="Picture 9" descr="A close-up of a sign&#10;&#10;Description automatically generated">
            <a:extLst>
              <a:ext uri="{FF2B5EF4-FFF2-40B4-BE49-F238E27FC236}">
                <a16:creationId xmlns:a16="http://schemas.microsoft.com/office/drawing/2014/main" id="{EFB88A90-41CC-D216-B7AD-83E90EF9E3B3}"/>
              </a:ext>
            </a:extLst>
          </p:cNvPr>
          <p:cNvPicPr>
            <a:picLocks noChangeAspect="1"/>
          </p:cNvPicPr>
          <p:nvPr/>
        </p:nvPicPr>
        <p:blipFill>
          <a:blip r:embed="rId3"/>
          <a:stretch>
            <a:fillRect/>
          </a:stretch>
        </p:blipFill>
        <p:spPr>
          <a:xfrm>
            <a:off x="175618" y="3242732"/>
            <a:ext cx="4297513" cy="734484"/>
          </a:xfrm>
          <a:prstGeom prst="rect">
            <a:avLst/>
          </a:prstGeom>
        </p:spPr>
      </p:pic>
    </p:spTree>
    <p:extLst>
      <p:ext uri="{BB962C8B-B14F-4D97-AF65-F5344CB8AC3E}">
        <p14:creationId xmlns:p14="http://schemas.microsoft.com/office/powerpoint/2010/main" val="1449851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8B12E9E-0882-B45B-2DE2-471784891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227B4F-F03E-314A-AD8D-DDBA6DD076F3}"/>
              </a:ext>
            </a:extLst>
          </p:cNvPr>
          <p:cNvSpPr>
            <a:spLocks noGrp="1"/>
          </p:cNvSpPr>
          <p:nvPr>
            <p:ph type="title"/>
          </p:nvPr>
        </p:nvSpPr>
        <p:spPr>
          <a:xfrm>
            <a:off x="625147" y="569627"/>
            <a:ext cx="7382605" cy="4328436"/>
          </a:xfrm>
        </p:spPr>
        <p:txBody>
          <a:bodyPr vert="horz" lIns="91440" tIns="45720" rIns="91440" bIns="45720" rtlCol="0" anchor="b">
            <a:normAutofit/>
          </a:bodyPr>
          <a:lstStyle/>
          <a:p>
            <a:r>
              <a:rPr lang="en-US" sz="7200"/>
              <a:t>DISSCUSSION</a:t>
            </a:r>
          </a:p>
        </p:txBody>
      </p:sp>
    </p:spTree>
    <p:extLst>
      <p:ext uri="{BB962C8B-B14F-4D97-AF65-F5344CB8AC3E}">
        <p14:creationId xmlns:p14="http://schemas.microsoft.com/office/powerpoint/2010/main" val="473867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B717B69-90B4-1E8E-EAE3-DD8655CCDE74}"/>
              </a:ext>
            </a:extLst>
          </p:cNvPr>
          <p:cNvSpPr>
            <a:spLocks noGrp="1"/>
          </p:cNvSpPr>
          <p:nvPr>
            <p:ph type="title"/>
          </p:nvPr>
        </p:nvSpPr>
        <p:spPr/>
        <p:txBody>
          <a:bodyPr/>
          <a:lstStyle/>
          <a:p>
            <a:pPr algn="ctr"/>
            <a:r>
              <a:rPr lang="en-US" dirty="0"/>
              <a:t>NAÏVE BAYES MODEL</a:t>
            </a:r>
          </a:p>
        </p:txBody>
      </p:sp>
      <p:sp>
        <p:nvSpPr>
          <p:cNvPr id="6" name="Content Placeholder 5">
            <a:extLst>
              <a:ext uri="{FF2B5EF4-FFF2-40B4-BE49-F238E27FC236}">
                <a16:creationId xmlns:a16="http://schemas.microsoft.com/office/drawing/2014/main" id="{0AA21CE0-9F70-8404-652C-D16997D136CB}"/>
              </a:ext>
            </a:extLst>
          </p:cNvPr>
          <p:cNvSpPr>
            <a:spLocks noGrp="1"/>
          </p:cNvSpPr>
          <p:nvPr>
            <p:ph idx="1"/>
          </p:nvPr>
        </p:nvSpPr>
        <p:spPr>
          <a:xfrm>
            <a:off x="612647" y="1318437"/>
            <a:ext cx="10653579" cy="4990923"/>
          </a:xfrm>
        </p:spPr>
        <p:txBody>
          <a:bodyPr>
            <a:normAutofit fontScale="85000" lnSpcReduction="10000"/>
          </a:bodyPr>
          <a:lstStyle/>
          <a:p>
            <a:r>
              <a:rPr lang="en-US" b="1" i="1" u="sng" dirty="0"/>
              <a:t>ACCURACY: </a:t>
            </a:r>
            <a:r>
              <a:rPr lang="en-US" dirty="0"/>
              <a:t>With an accuracy of 82.33%, the Naive Bayes model accuracy was a little less than the Decision Tree model. Naïve Bayes basically assumes that each feature affects the output either its PCOS or not. And since features like follicle count, testosterone, and BMI are interrelated to diagnose PCOS, it may reduce the this models ability to calculate the combined effect of all features</a:t>
            </a:r>
          </a:p>
          <a:p>
            <a:r>
              <a:rPr lang="en-US" b="1" i="1" u="sng" dirty="0"/>
              <a:t>INDEPENDENT FEATURE CALCULATION:  </a:t>
            </a:r>
            <a:r>
              <a:rPr lang="en-US" dirty="0"/>
              <a:t>this model classified the patients by calculating each feature separately so features such as testosterone level and BMI were calculated separately and considered individual risk. The Naïve Bayes model was therefore unable to predict properly since all features are connected medically.</a:t>
            </a:r>
            <a:endParaRPr lang="en-US" b="1" i="1" u="sng" dirty="0"/>
          </a:p>
          <a:p>
            <a:r>
              <a:rPr lang="en-US" b="1" i="1" u="sng" dirty="0"/>
              <a:t>KEY PREDICTORS:  </a:t>
            </a:r>
            <a:r>
              <a:rPr lang="en-US" dirty="0"/>
              <a:t>This model had some powerful features like testosterone level and antral follicle count as also seen in the boxplot. due to this they by themselves had a big impact on successful prediction of the model but due to some class imbalance and overlapping feature distributions, this naïve bayes model could not predict more than 35% of true PCOS cases.</a:t>
            </a:r>
            <a:endParaRPr lang="en-US" b="1" i="1" u="sng" dirty="0"/>
          </a:p>
          <a:p>
            <a:r>
              <a:rPr lang="en-US" b="1" i="1" u="sng" dirty="0">
                <a:effectLst/>
                <a:latin typeface="Helvetica Neue" panose="02000503000000020004" pitchFamily="2" charset="0"/>
              </a:rPr>
              <a:t>LIMITATIONS: </a:t>
            </a:r>
            <a:r>
              <a:rPr lang="en-US" dirty="0"/>
              <a:t>The model favored non-PCOS cases due to class imbalance, resulting in high accuracy for non-PCOS but poor detection of actual PCOS cases.</a:t>
            </a:r>
          </a:p>
          <a:p>
            <a:endParaRPr lang="en-US" dirty="0"/>
          </a:p>
          <a:p>
            <a:endParaRPr lang="en-US" dirty="0"/>
          </a:p>
        </p:txBody>
      </p:sp>
    </p:spTree>
    <p:extLst>
      <p:ext uri="{BB962C8B-B14F-4D97-AF65-F5344CB8AC3E}">
        <p14:creationId xmlns:p14="http://schemas.microsoft.com/office/powerpoint/2010/main" val="3970733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F96B3-97D5-1CF3-087C-02F16D8BE11C}"/>
              </a:ext>
            </a:extLst>
          </p:cNvPr>
          <p:cNvSpPr>
            <a:spLocks noGrp="1"/>
          </p:cNvSpPr>
          <p:nvPr>
            <p:ph type="title"/>
          </p:nvPr>
        </p:nvSpPr>
        <p:spPr/>
        <p:txBody>
          <a:bodyPr/>
          <a:lstStyle/>
          <a:p>
            <a:pPr algn="ctr"/>
            <a:r>
              <a:rPr lang="en-US" dirty="0"/>
              <a:t>DECISION TREE MODEL</a:t>
            </a:r>
          </a:p>
        </p:txBody>
      </p:sp>
      <p:sp>
        <p:nvSpPr>
          <p:cNvPr id="3" name="Content Placeholder 2">
            <a:extLst>
              <a:ext uri="{FF2B5EF4-FFF2-40B4-BE49-F238E27FC236}">
                <a16:creationId xmlns:a16="http://schemas.microsoft.com/office/drawing/2014/main" id="{30911AF4-0C45-091E-968D-D9AAB3BC0A08}"/>
              </a:ext>
            </a:extLst>
          </p:cNvPr>
          <p:cNvSpPr>
            <a:spLocks noGrp="1"/>
          </p:cNvSpPr>
          <p:nvPr>
            <p:ph idx="1"/>
          </p:nvPr>
        </p:nvSpPr>
        <p:spPr/>
        <p:txBody>
          <a:bodyPr>
            <a:normAutofit fontScale="85000" lnSpcReduction="20000"/>
          </a:bodyPr>
          <a:lstStyle/>
          <a:p>
            <a:r>
              <a:rPr lang="en-US" b="1" i="1" u="sng" dirty="0"/>
              <a:t>ACCURACY: </a:t>
            </a:r>
            <a:r>
              <a:rPr lang="en-US" b="0" i="0" u="none" strike="noStrike" dirty="0">
                <a:solidFill>
                  <a:srgbClr val="000000"/>
                </a:solidFill>
                <a:effectLst/>
              </a:rPr>
              <a:t>With an accuracy of </a:t>
            </a:r>
            <a:r>
              <a:rPr lang="en-US" i="0" u="none" strike="noStrike" dirty="0">
                <a:solidFill>
                  <a:srgbClr val="000000"/>
                </a:solidFill>
                <a:effectLst/>
              </a:rPr>
              <a:t>89.33%</a:t>
            </a:r>
            <a:r>
              <a:rPr lang="en-US" b="0" i="0" u="none" strike="noStrike" dirty="0">
                <a:solidFill>
                  <a:srgbClr val="000000"/>
                </a:solidFill>
                <a:effectLst/>
              </a:rPr>
              <a:t>, the Decision Tree model performed much better than the Naive Bayes model. This is because the Decision Tree can detect </a:t>
            </a:r>
            <a:r>
              <a:rPr lang="en-US" i="0" u="none" strike="noStrike" dirty="0">
                <a:solidFill>
                  <a:srgbClr val="000000"/>
                </a:solidFill>
                <a:effectLst/>
              </a:rPr>
              <a:t>complex patterns and relationships between features</a:t>
            </a:r>
            <a:r>
              <a:rPr lang="en-US" b="0" i="0" u="none" strike="noStrike" dirty="0">
                <a:solidFill>
                  <a:srgbClr val="000000"/>
                </a:solidFill>
                <a:effectLst/>
              </a:rPr>
              <a:t>, like how high testosterone and high BMI together would increase the chance of PCOS.</a:t>
            </a:r>
          </a:p>
          <a:p>
            <a:r>
              <a:rPr lang="en-US" sz="2100" b="1" i="1" u="sng" strike="noStrike" dirty="0">
                <a:solidFill>
                  <a:srgbClr val="000000"/>
                </a:solidFill>
                <a:effectLst/>
              </a:rPr>
              <a:t>Feature </a:t>
            </a:r>
            <a:r>
              <a:rPr lang="en-US" sz="2100" b="1" i="1" u="sng" strike="noStrike" dirty="0" err="1">
                <a:solidFill>
                  <a:srgbClr val="000000"/>
                </a:solidFill>
                <a:effectLst/>
              </a:rPr>
              <a:t>Spliting</a:t>
            </a:r>
            <a:r>
              <a:rPr lang="en-US" sz="2100" strike="noStrike" dirty="0">
                <a:solidFill>
                  <a:srgbClr val="000000"/>
                </a:solidFill>
                <a:effectLst/>
              </a:rPr>
              <a:t>: </a:t>
            </a:r>
            <a:r>
              <a:rPr lang="en-US" b="0" i="0" u="none" strike="noStrike" dirty="0">
                <a:solidFill>
                  <a:srgbClr val="000000"/>
                </a:solidFill>
                <a:effectLst/>
              </a:rPr>
              <a:t>Unlike Naive Bayes, the Decision Tree model does </a:t>
            </a:r>
            <a:r>
              <a:rPr lang="en-US" i="0" u="none" strike="noStrike" dirty="0">
                <a:solidFill>
                  <a:srgbClr val="000000"/>
                </a:solidFill>
                <a:effectLst/>
              </a:rPr>
              <a:t>not assume that all features are independent but</a:t>
            </a:r>
            <a:r>
              <a:rPr lang="en-US" dirty="0">
                <a:solidFill>
                  <a:srgbClr val="000000"/>
                </a:solidFill>
              </a:rPr>
              <a:t> i</a:t>
            </a:r>
            <a:r>
              <a:rPr lang="en-US" b="0" i="0" u="none" strike="noStrike" dirty="0">
                <a:solidFill>
                  <a:srgbClr val="000000"/>
                </a:solidFill>
                <a:effectLst/>
              </a:rPr>
              <a:t>nstead, it chooses that the most useful features to</a:t>
            </a:r>
            <a:r>
              <a:rPr lang="en-US" i="0" u="none" strike="noStrike" dirty="0">
                <a:solidFill>
                  <a:srgbClr val="000000"/>
                </a:solidFill>
                <a:effectLst/>
              </a:rPr>
              <a:t> split the data</a:t>
            </a:r>
            <a:r>
              <a:rPr lang="en-US" dirty="0">
                <a:solidFill>
                  <a:srgbClr val="000000"/>
                </a:solidFill>
              </a:rPr>
              <a:t> is by </a:t>
            </a:r>
            <a:r>
              <a:rPr lang="en-US" b="0" i="0" u="none" strike="noStrike" dirty="0">
                <a:solidFill>
                  <a:srgbClr val="000000"/>
                </a:solidFill>
                <a:effectLst/>
              </a:rPr>
              <a:t>building a tree based on important thresholds. This helps the model learn </a:t>
            </a:r>
            <a:r>
              <a:rPr lang="en-US" i="0" u="none" strike="noStrike" dirty="0">
                <a:solidFill>
                  <a:srgbClr val="000000"/>
                </a:solidFill>
                <a:effectLst/>
              </a:rPr>
              <a:t>how features </a:t>
            </a:r>
            <a:r>
              <a:rPr lang="en-US" dirty="0">
                <a:solidFill>
                  <a:srgbClr val="000000"/>
                </a:solidFill>
              </a:rPr>
              <a:t>connect with each other</a:t>
            </a:r>
            <a:r>
              <a:rPr lang="en-US" i="0" u="none" strike="noStrike" dirty="0">
                <a:solidFill>
                  <a:srgbClr val="000000"/>
                </a:solidFill>
                <a:effectLst/>
              </a:rPr>
              <a:t> </a:t>
            </a:r>
            <a:r>
              <a:rPr lang="en-US" b="0" i="0" u="none" strike="noStrike" dirty="0">
                <a:solidFill>
                  <a:srgbClr val="000000"/>
                </a:solidFill>
                <a:effectLst/>
              </a:rPr>
              <a:t>in a medical dataset.</a:t>
            </a:r>
          </a:p>
          <a:p>
            <a:r>
              <a:rPr lang="en-US" b="1" i="1" u="sng" dirty="0"/>
              <a:t>KEY PREDICTORS:</a:t>
            </a:r>
            <a:r>
              <a:rPr lang="en-US" b="1" i="1" u="sng" dirty="0">
                <a:solidFill>
                  <a:srgbClr val="000000"/>
                </a:solidFill>
              </a:rPr>
              <a:t> </a:t>
            </a:r>
            <a:r>
              <a:rPr lang="en-US" dirty="0">
                <a:solidFill>
                  <a:srgbClr val="000000"/>
                </a:solidFill>
              </a:rPr>
              <a:t> In this</a:t>
            </a:r>
            <a:r>
              <a:rPr lang="en-US" b="0" i="0" u="none" strike="noStrike" dirty="0">
                <a:solidFill>
                  <a:srgbClr val="000000"/>
                </a:solidFill>
                <a:effectLst/>
              </a:rPr>
              <a:t> model,</a:t>
            </a:r>
            <a:r>
              <a:rPr lang="en-US" i="0" u="none" strike="noStrike" dirty="0">
                <a:solidFill>
                  <a:srgbClr val="000000"/>
                </a:solidFill>
                <a:effectLst/>
              </a:rPr>
              <a:t> BMI, antral follicle count, and testosterone level </a:t>
            </a:r>
            <a:r>
              <a:rPr lang="en-US" b="0" i="0" u="none" strike="noStrike" dirty="0">
                <a:solidFill>
                  <a:srgbClr val="000000"/>
                </a:solidFill>
                <a:effectLst/>
              </a:rPr>
              <a:t>played a big role in classifying the data. And in the tree these were used as </a:t>
            </a:r>
            <a:r>
              <a:rPr lang="en-US" i="0" u="none" strike="noStrike" dirty="0">
                <a:solidFill>
                  <a:srgbClr val="000000"/>
                </a:solidFill>
                <a:effectLst/>
              </a:rPr>
              <a:t>decision points</a:t>
            </a:r>
            <a:r>
              <a:rPr lang="en-US" dirty="0">
                <a:solidFill>
                  <a:srgbClr val="000000"/>
                </a:solidFill>
              </a:rPr>
              <a:t> that made</a:t>
            </a:r>
            <a:r>
              <a:rPr lang="en-US" b="0" i="0" u="none" strike="noStrike" dirty="0">
                <a:solidFill>
                  <a:srgbClr val="000000"/>
                </a:solidFill>
                <a:effectLst/>
              </a:rPr>
              <a:t> it separate PCOS and non-PCOS cases clearly.</a:t>
            </a:r>
          </a:p>
          <a:p>
            <a:r>
              <a:rPr lang="en-US" b="1" i="1" u="sng" strike="noStrike" dirty="0">
                <a:solidFill>
                  <a:srgbClr val="000000"/>
                </a:solidFill>
                <a:effectLst/>
              </a:rPr>
              <a:t>Improved Sensitivity and Balance: </a:t>
            </a:r>
            <a:r>
              <a:rPr lang="en-US" i="0" u="none" strike="noStrike" dirty="0">
                <a:solidFill>
                  <a:srgbClr val="000000"/>
                </a:solidFill>
                <a:effectLst/>
              </a:rPr>
              <a:t>This model did performed better than Naïve bayes for both PCOS and non-PCOS predictions because it had a sensitivity of 75.38% and a specificity of 93.19%. Even in the class imbalance, this model had a balanced accuracy of around 84.29% and a Kappa score of 0.6858 which showed that it was more consistent and reliable.</a:t>
            </a:r>
            <a:endParaRPr lang="en-US" strike="noStrike" dirty="0">
              <a:solidFill>
                <a:srgbClr val="000000"/>
              </a:solidFill>
              <a:effectLst/>
            </a:endParaRPr>
          </a:p>
          <a:p>
            <a:endParaRPr lang="en-US" strike="noStrike" dirty="0">
              <a:solidFill>
                <a:srgbClr val="000000"/>
              </a:solidFill>
              <a:effectLst/>
            </a:endParaRPr>
          </a:p>
          <a:p>
            <a:endParaRPr lang="en-US" dirty="0"/>
          </a:p>
        </p:txBody>
      </p:sp>
    </p:spTree>
    <p:extLst>
      <p:ext uri="{BB962C8B-B14F-4D97-AF65-F5344CB8AC3E}">
        <p14:creationId xmlns:p14="http://schemas.microsoft.com/office/powerpoint/2010/main" val="582385566"/>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1345</TotalTime>
  <Words>987</Words>
  <Application>Microsoft Macintosh PowerPoint</Application>
  <PresentationFormat>Widescreen</PresentationFormat>
  <Paragraphs>62</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Arial</vt:lpstr>
      <vt:lpstr>Helvetica Neue</vt:lpstr>
      <vt:lpstr>Neue Haas Grotesk Text Pro</vt:lpstr>
      <vt:lpstr>VanillaVTI</vt:lpstr>
      <vt:lpstr>VISUALISATIONS</vt:lpstr>
      <vt:lpstr>HISTOGRAM 1</vt:lpstr>
      <vt:lpstr>HISTOGRAM 2</vt:lpstr>
      <vt:lpstr>HISTOGRAM 3</vt:lpstr>
      <vt:lpstr>BAR GRAPH</vt:lpstr>
      <vt:lpstr>BAR GRAPH (Why I removed Menstrual Irregularity feature)</vt:lpstr>
      <vt:lpstr>BOX PLOT</vt:lpstr>
      <vt:lpstr>BOX PLOT</vt:lpstr>
      <vt:lpstr>BOX PLOT</vt:lpstr>
      <vt:lpstr>        NAÏVE BAYES                 DECISION TREE (prediction)                                                          </vt:lpstr>
      <vt:lpstr>DECISION TREE WITH CROSS-VALIDATION(5FOLD)</vt:lpstr>
      <vt:lpstr>MODEL ACCURACY EVALUATION</vt:lpstr>
      <vt:lpstr>DISSCUSSION</vt:lpstr>
      <vt:lpstr>NAÏVE BAYES MODEL</vt:lpstr>
      <vt:lpstr>DECISION TREE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Bismah Ahmed</dc:creator>
  <cp:lastModifiedBy>Bismah Ahmed</cp:lastModifiedBy>
  <cp:revision>8</cp:revision>
  <dcterms:created xsi:type="dcterms:W3CDTF">2025-04-21T02:33:06Z</dcterms:created>
  <dcterms:modified xsi:type="dcterms:W3CDTF">2026-07-19T19:08:24Z</dcterms:modified>
</cp:coreProperties>
</file>